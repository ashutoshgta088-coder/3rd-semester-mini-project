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B96F70-AEE2-41DE-B56D-7921EAF9746E}">
  <a:tblStyle styleId="{1AB96F70-AEE2-41DE-B56D-7921EAF9746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1556" y="420624"/>
            <a:ext cx="1005840" cy="99669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/>
        </p:nvSpPr>
        <p:spPr>
          <a:xfrm>
            <a:off x="914400" y="169164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LLOYD INSTITUTE OF ENGINEERING &amp; TECHNOLOGY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914400" y="2112264"/>
            <a:ext cx="10360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  Department of Computer Science &amp; Engineering &amp; </a:t>
            </a:r>
            <a:r>
              <a:rPr lang="en-US" sz="1800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Allied</a:t>
            </a:r>
            <a:r>
              <a:rPr lang="en-US" sz="1800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 Branches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914400" y="2715768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B.TECH SECOND YEAR MINI PROJECT  ·  BCC351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280160" y="3200400"/>
            <a:ext cx="9628632" cy="1371600"/>
          </a:xfrm>
          <a:prstGeom prst="roundRect">
            <a:avLst>
              <a:gd fmla="val 6667" name="adj"/>
            </a:avLst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1463040" y="3200400"/>
            <a:ext cx="926287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40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sz="2000" b="1">
                <a:solidFill>
                  <a:srgbClr val="DC9614"/>
                </a:solidFill>
                <a:latin typeface="Calibri"/>
              </a:rPr>
              <a:t>STUATTEN: BLUETOOTH-BASED SMART ATTENDANCE SYSTEM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With Real-Time Biometric &amp; Anti-Proxy Verification</a:t>
            </a:r>
          </a:p>
        </p:txBody>
      </p:sp>
      <p:sp>
        <p:nvSpPr>
          <p:cNvPr id="24" name="Google Shape;24;p3"/>
          <p:cNvSpPr txBox="1"/>
          <p:nvPr/>
        </p:nvSpPr>
        <p:spPr>
          <a:xfrm>
            <a:off x="914400" y="470916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Mini </a:t>
            </a:r>
            <a:r>
              <a:rPr b="0" i="0" lang="en-US" sz="15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Project Presentation – II (Final Evaluation)   |   Session 2026–27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914400" y="5303520"/>
            <a:ext cx="4480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6FB6CE"/>
              </a:buClr>
              <a:buSzPts val="1150"/>
              <a:buFont typeface="Calibri"/>
              <a:buNone/>
            </a:pPr>
            <a:r>
              <a:rPr sz="1100" b="1">
                <a:solidFill>
                  <a:srgbClr val="DC9614"/>
                </a:solidFill>
                <a:latin typeface="Calibri"/>
              </a:rPr>
              <a:t>PROJECT GUIDE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Mr. Vishal Gupta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Assistant Professor &amp; Project Coordinator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8D2E6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26" name="Google Shape;26;p3"/>
          <p:cNvSpPr txBox="1"/>
          <p:nvPr/>
        </p:nvSpPr>
        <p:spPr>
          <a:xfrm>
            <a:off x="6949440" y="5303520"/>
            <a:ext cx="4389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6FB6CE"/>
              </a:buClr>
              <a:buSzPts val="1150"/>
              <a:buFont typeface="Calibri"/>
              <a:buNone/>
            </a:pPr>
            <a:r>
              <a:rPr sz="1100" b="1">
                <a:solidFill>
                  <a:srgbClr val="DC9614"/>
                </a:solidFill>
                <a:latin typeface="Calibri"/>
              </a:rPr>
              <a:t>SUBMITTED BY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Ashutosh Gupta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Roll No.: 2501530100032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8D2E6"/>
                </a:solidFill>
                <a:latin typeface="Calibri"/>
              </a:rPr>
              <a:t>B.Tech CSE — 3rd Semester, Sec 2A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Presentation 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234440" y="169164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417320" y="18470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1417320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2011680" y="16916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Project Recap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234440" y="256032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417320" y="271576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1417320" y="27157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2011680" y="256032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Project Progress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234440" y="342900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417320" y="358444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1417320" y="35844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2011680" y="34290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234440" y="429768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417320" y="445312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1417320" y="44531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2011680" y="429768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Implementation Details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234440" y="516636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417320" y="532180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1417320" y="53218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2011680" y="516636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Working Demonstration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263640" y="169164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446520" y="18470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 txBox="1"/>
          <p:nvPr/>
        </p:nvSpPr>
        <p:spPr>
          <a:xfrm>
            <a:off x="6446520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040880" y="16916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Technical Understanding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263640" y="256032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446520" y="271576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 txBox="1"/>
          <p:nvPr/>
        </p:nvSpPr>
        <p:spPr>
          <a:xfrm>
            <a:off x="6446520" y="27157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7040880" y="256032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Results &amp; Testing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263640" y="342900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6446520" y="358444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 txBox="1"/>
          <p:nvPr/>
        </p:nvSpPr>
        <p:spPr>
          <a:xfrm>
            <a:off x="6446520" y="35844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7040880" y="34290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Conclusion &amp; Future Scope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263640" y="4297680"/>
            <a:ext cx="466344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446520" y="445312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 txBox="1"/>
          <p:nvPr/>
        </p:nvSpPr>
        <p:spPr>
          <a:xfrm>
            <a:off x="6446520" y="44531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7040880" y="429768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RECAP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Project Recap (from Review-01)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234440" y="1600200"/>
            <a:ext cx="484632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 txBox="1"/>
          <p:nvPr/>
        </p:nvSpPr>
        <p:spPr>
          <a:xfrm>
            <a:off x="1508760" y="18288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1508760" y="2331720"/>
            <a:ext cx="42976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1100" b="1">
                <a:solidFill>
                  <a:srgbClr val="1E293B"/>
                </a:solidFill>
                <a:latin typeface="Calibri"/>
              </a:rPr>
              <a:t>• Time-Intensive Roll Calls: </a:t>
            </a:r>
            <a:r>
              <a:rPr sz="1000" b="0">
                <a:solidFill>
                  <a:srgbClr val="475569"/>
                </a:solidFill>
                <a:latin typeface="Calibri"/>
              </a:rPr>
              <a:t>Manual paper rosters and vocal roll-calling waste 10–15 minutes of every 50-minute lecture, reducing active teaching time.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Widespread Proxy Marking: </a:t>
            </a:r>
            <a:r>
              <a:rPr sz="1000" b="0">
                <a:solidFill>
                  <a:srgbClr val="475569"/>
                </a:solidFill>
                <a:latin typeface="Calibri"/>
              </a:rPr>
              <a:t>Buddy-punching and identity misrepresentation undermine institutional credibility and audit compliance.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Vulnerabilities in QR Systems: </a:t>
            </a:r>
            <a:r>
              <a:rPr sz="1000" b="0">
                <a:solidFill>
                  <a:srgbClr val="475569"/>
                </a:solidFill>
                <a:latin typeface="Calibri"/>
              </a:rPr>
              <a:t>Students routinely share static QR code screenshots over messaging groups (WhatsApp/Telegram), enabling off-campus marking.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Lack of Spatial Validation: </a:t>
            </a:r>
            <a:r>
              <a:rPr sz="1000" b="0">
                <a:solidFill>
                  <a:srgbClr val="475569"/>
                </a:solidFill>
                <a:latin typeface="Calibri"/>
              </a:rPr>
              <a:t>Legacy attendance portals cannot verify if the student is physically inside the designated lecture hall.</a:t>
            </a:r>
          </a:p>
        </p:txBody>
      </p:sp>
      <p:sp>
        <p:nvSpPr>
          <p:cNvPr id="92" name="Google Shape;92;p5"/>
          <p:cNvSpPr/>
          <p:nvPr/>
        </p:nvSpPr>
        <p:spPr>
          <a:xfrm>
            <a:off x="6309360" y="1600200"/>
            <a:ext cx="475488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 txBox="1"/>
          <p:nvPr/>
        </p:nvSpPr>
        <p:spPr>
          <a:xfrm>
            <a:off x="6583680" y="182880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6583680" y="23774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9FB3C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7223760" y="2423160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2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1050" b="1">
                <a:solidFill>
                  <a:srgbClr val="1E293B"/>
                </a:solidFill>
                <a:latin typeface="Calibri"/>
              </a:rPr>
              <a:t>BLE Proximity Lockdown: </a:t>
            </a:r>
            <a:r>
              <a:rPr sz="950" b="0">
                <a:solidFill>
                  <a:srgbClr val="475569"/>
                </a:solidFill>
                <a:latin typeface="Calibri"/>
              </a:rPr>
              <a:t>Automate attendance using BLE beacon broadcasting with RSSI threshold filtering to lock marking within 5–10m.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6583680" y="32735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9FB3C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7223760" y="3319272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2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1050" b="1">
                <a:solidFill>
                  <a:srgbClr val="1E293B"/>
                </a:solidFill>
                <a:latin typeface="Calibri"/>
              </a:rPr>
              <a:t>Anti-Proxy Device Defense: </a:t>
            </a:r>
            <a:r>
              <a:rPr sz="950" b="0">
                <a:solidFill>
                  <a:srgbClr val="475569"/>
                </a:solidFill>
                <a:latin typeface="Calibri"/>
              </a:rPr>
              <a:t>Enforce physical device fingerprinting &amp; WebAuthn biometric verification to prevent credential or screenshot sharing.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6583680" y="416966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9FB3C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7223760" y="4215384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2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1050" b="1">
                <a:solidFill>
                  <a:srgbClr val="1E293B"/>
                </a:solidFill>
                <a:latin typeface="Calibri"/>
              </a:rPr>
              <a:t>Real-Time Teacher Controls: </a:t>
            </a:r>
            <a:r>
              <a:rPr sz="950" b="0">
                <a:solidFill>
                  <a:srgbClr val="475569"/>
                </a:solidFill>
                <a:latin typeface="Calibri"/>
              </a:rPr>
              <a:t>Provide teachers with dynamic session countdown timers, auto-stop on timeout, and auto-closure on teacher logout.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6583680" y="50657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9FB3C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7223760" y="5111496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2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1050" b="1">
                <a:solidFill>
                  <a:srgbClr val="1E293B"/>
                </a:solidFill>
                <a:latin typeface="Calibri"/>
              </a:rPr>
              <a:t>Institutional Audit &amp; Export: </a:t>
            </a:r>
            <a:r>
              <a:rPr sz="950" b="0">
                <a:solidFill>
                  <a:srgbClr val="475569"/>
                </a:solidFill>
                <a:latin typeface="Calibri"/>
              </a:rPr>
              <a:t>One-click export of attendance analytics into AKTU-format Excel (.xlsx) &amp; official PDF with defaulter threshold detection (&lt;75%).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10424160" y="-1463040"/>
            <a:ext cx="3108900" cy="3108900"/>
          </a:xfrm>
          <a:prstGeom prst="ellipse">
            <a:avLst/>
          </a:prstGeom>
          <a:solidFill>
            <a:srgbClr val="1C7293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-1097280" y="5669280"/>
            <a:ext cx="2194500" cy="2194500"/>
          </a:xfrm>
          <a:prstGeom prst="ellipse">
            <a:avLst/>
          </a:prstGeom>
          <a:solidFill>
            <a:srgbClr val="21295C">
              <a:alpha val="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502920" y="457200"/>
            <a:ext cx="530400" cy="530400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 txBox="1"/>
          <p:nvPr/>
        </p:nvSpPr>
        <p:spPr>
          <a:xfrm>
            <a:off x="502920" y="457200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1234440" y="429768"/>
            <a:ext cx="868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PROJECT PROGRESS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1234440" y="676656"/>
            <a:ext cx="9692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Planned vs Completed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11228832" y="649224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234477" y="1600200"/>
            <a:ext cx="9994500" cy="44805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 txBox="1"/>
          <p:nvPr/>
        </p:nvSpPr>
        <p:spPr>
          <a:xfrm>
            <a:off x="1590474" y="2194550"/>
            <a:ext cx="2387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600"/>
              </a:spcAft>
              <a:buClr>
                <a:srgbClr val="1C7293"/>
              </a:buClr>
              <a:buSzPts val="4800"/>
              <a:buFont typeface="Cambria"/>
              <a:buNone/>
            </a:pPr>
            <a:r>
              <a:rPr sz="3600" b="1">
                <a:solidFill>
                  <a:srgbClr val="DC9614"/>
                </a:solidFill>
                <a:latin typeface="Calibri"/>
              </a:rPr>
              <a:t>100%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1234440" y="315468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OVERALL COMPLETION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1463064" y="3840475"/>
            <a:ext cx="5453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1150" b="1">
                <a:solidFill>
                  <a:srgbClr val="101840"/>
                </a:solidFill>
                <a:latin typeface="Calibri"/>
              </a:rPr>
              <a:t>Milestone Status (100% Completed)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✔ Core Fullstack Web Engine (Node.js/Express, Vite React PWA, Socket.IO live sync) — [100% DONE]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✔ Proximity &amp; Geofence System (BLE RSSI log-distance path loss + Haversine GPS) — [100% DONE]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✔ Multi-Factor Anti-Proxy Shield (Hardware device token binding + WebAuthn passkey) — [100% DONE]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✔ Teacher Profile &amp; Controls (Photo upload from files, active countdown timer, auto-timeout) — [100% DONE]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✔ Cloud Production Deployment (Live Web Service on Render + Offline High-Availability) — [100% DONE]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01840"/>
                </a:solidFill>
                <a:latin typeface="Calibri"/>
              </a:rPr>
              <a:t>Key Additions Since Review-01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Added 1-Tap Physical Device Binding: Eliminates OS passkey dialog friction on Android devices.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Auto-Stop Security: Sessions automatically terminate when lecture timer reaches 00:00 or teacher logs out.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Real-time Socket.IO Live Roster: Instant bidirectional sync with &lt;200ms latency on teacher screen.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• Teacher Profile Management: Full edit capabilities with file photo upload and subject assignment.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System Architecture / Workflow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234440" y="1600200"/>
            <a:ext cx="9848088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1234440" y="3200400"/>
            <a:ext cx="9848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400"/>
              </a:spcAft>
              <a:buClr>
                <a:srgbClr val="6B7593"/>
              </a:buClr>
              <a:buSzPts val="1600"/>
              <a:buFont typeface="Calibri"/>
              <a:buNone/>
            </a:pPr>
            <a:r>
              <a:rPr sz="1100" b="1">
                <a:solidFill>
                  <a:srgbClr val="101840"/>
                </a:solidFill>
                <a:latin typeface="Calibri"/>
              </a:rPr>
              <a:t>1. Client / Presentation Layer (Mobile &amp; Desktop PWA)</a:t>
            </a:r>
            <a:br/>
            <a:r>
              <a:rPr sz="1000" b="0">
                <a:solidFill>
                  <a:srgbClr val="475569"/>
                </a:solidFill>
                <a:latin typeface="Calibri"/>
              </a:rPr>
              <a:t>   • Vite + React 18 Responsive PWA  |  • Web Bluetooth API (BLE Beacon Scanner)  |  • WebAuthn Biometrics &amp; Device Fingerprint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01840"/>
                </a:solidFill>
                <a:latin typeface="Calibri"/>
              </a:rPr>
              <a:t>2. Application, Proximity &amp; Security Gateway</a:t>
            </a:r>
            <a:br/>
            <a:r>
              <a:rPr sz="1000" b="0">
                <a:solidFill>
                  <a:srgbClr val="475569"/>
                </a:solidFill>
                <a:latin typeface="Calibri"/>
              </a:rPr>
              <a:t>   • Node.js &amp; Express RESTful Engine  |  • JWT Role-Based Authorization  |  • Log-Distance RSSI Filter  |  • Haversine Geofence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01840"/>
                </a:solidFill>
                <a:latin typeface="Calibri"/>
              </a:rPr>
              <a:t>3. Business Logic &amp; Live Synchronization Hub</a:t>
            </a:r>
            <a:br/>
            <a:r>
              <a:rPr sz="1000" b="0">
                <a:solidFill>
                  <a:srgbClr val="475569"/>
                </a:solidFill>
                <a:latin typeface="Calibri"/>
              </a:rPr>
              <a:t>   • Dynamic Session Generator (Timed Nonce)  |  • Socket.IO Real-Time Roster Stream  |  • Timeout &amp; Logout Auto-Termination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01840"/>
                </a:solidFill>
                <a:latin typeface="Calibri"/>
              </a:rPr>
              <a:t>4. Data Persistence &amp; Institutional Reporting Layer</a:t>
            </a:r>
            <a:br/>
            <a:r>
              <a:rPr sz="1000" b="0">
                <a:solidFill>
                  <a:srgbClr val="475569"/>
                </a:solidFill>
                <a:latin typeface="Calibri"/>
              </a:rPr>
              <a:t>   • MongoDB Atlas Database  |  • High-Availability In-Memory Failover  |  • XLSX &amp; PDFKit Official Attendance Exporter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Implementation Details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234471" y="1600200"/>
            <a:ext cx="9811200" cy="448050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1463075" y="1846475"/>
            <a:ext cx="9334500" cy="4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1100" b="1">
                <a:solidFill>
                  <a:srgbClr val="101840"/>
                </a:solidFill>
                <a:latin typeface="Calibri"/>
              </a:rPr>
              <a:t>• Module 1: Frontend &amp; Cross-Platform PWA: </a:t>
            </a:r>
            <a:r>
              <a:rPr sz="950" b="0">
                <a:solidFill>
                  <a:srgbClr val="475569"/>
                </a:solidFill>
                <a:latin typeface="Calibri"/>
              </a:rPr>
              <a:t>Built using React 18, Vite, and component modularity. Operates seamlessly as an installable Progressive Web App across Android, iOS, Windows, and macOS with dark/light mode and zero client-side latency.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01840"/>
                </a:solidFill>
                <a:latin typeface="Calibri"/>
              </a:rPr>
              <a:t>• Module 2: Proximity Verification (BLE &amp; Geofencing): </a:t>
            </a:r>
            <a:r>
              <a:rPr sz="950" b="0">
                <a:solidFill>
                  <a:srgbClr val="475569"/>
                </a:solidFill>
                <a:latin typeface="Calibri"/>
              </a:rPr>
              <a:t>Implements the Web Bluetooth API to detect the teacher's BLE advertising packet. Calculates proximity via RSSI attenuation. Integrated Haversine GPS geofencing confirms physical classroom coordinates (&lt;50m).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01840"/>
                </a:solidFill>
                <a:latin typeface="Calibri"/>
              </a:rPr>
              <a:t>• Module 3: Anti-Proxy &amp; Multi-Factor Authentication: </a:t>
            </a:r>
            <a:r>
              <a:rPr sz="950" b="0">
                <a:solidFill>
                  <a:srgbClr val="475569"/>
                </a:solidFill>
                <a:latin typeface="Calibri"/>
              </a:rPr>
              <a:t>Combines WebAuthn cryptographic passkeys with permanent device hardware fingerprinting (boundDeviceId). Prevents credential sharing, multi-device logins, and remote marking.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01840"/>
                </a:solidFill>
                <a:latin typeface="Calibri"/>
              </a:rPr>
              <a:t>• Module 4: Teacher Session Lifecycle &amp; Security Timers: </a:t>
            </a:r>
            <a:r>
              <a:rPr sz="950" b="0">
                <a:solidFill>
                  <a:srgbClr val="475569"/>
                </a:solidFill>
                <a:latin typeface="Calibri"/>
              </a:rPr>
              <a:t>Teachers initiate sessions with configured durations. Includes live countdown timer, auto-termination when timer expires (00:00), and auto-closure on teacher logout to stop unauthorized lingering marks.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01840"/>
                </a:solidFill>
                <a:latin typeface="Calibri"/>
              </a:rPr>
              <a:t>• Module 5: Real-time Socket.IO Roster &amp; Report Generation: </a:t>
            </a:r>
            <a:r>
              <a:rPr sz="950" b="0">
                <a:solidFill>
                  <a:srgbClr val="475569"/>
                </a:solidFill>
                <a:latin typeface="Calibri"/>
              </a:rPr>
              <a:t>Bidirectional WebSocket stream delivers instant attendance events (&lt;200ms) to the teacher's screen. Generates structured Excel (.xlsx) rosters and printable PDF attendance summaries with defaulter flagging.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WORKING DEMONSTRATION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Working Demonstration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1234440" y="1600200"/>
            <a:ext cx="3154680" cy="38404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 txBox="1"/>
          <p:nvPr/>
        </p:nvSpPr>
        <p:spPr>
          <a:xfrm>
            <a:off x="1234440" y="301752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3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950" b="1">
                <a:solidFill>
                  <a:srgbClr val="101840"/>
                </a:solidFill>
              </a:rPr>
              <a:t>Step 1: Session Initiation</a:t>
            </a:r>
            <a:br/>
            <a:r>
              <a:rPr sz="850">
                <a:solidFill>
                  <a:srgbClr val="475569"/>
                </a:solidFill>
              </a:rPr>
              <a:t>Teacher creates active session with Subject (BCC351), Section (2A) &amp; Duration (45 mins).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01840"/>
                </a:solidFill>
              </a:rPr>
              <a:t>Step 2: Student Login</a:t>
            </a:r>
            <a:br/>
            <a:r>
              <a:rPr sz="850">
                <a:solidFill>
                  <a:srgbClr val="475569"/>
                </a:solidFill>
              </a:rPr>
              <a:t>Student logs in with AKTU Roll No. (2501530100032) from their registered personal device.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01840"/>
                </a:solidFill>
              </a:rPr>
              <a:t>Step 3: Proximity Trigger</a:t>
            </a:r>
            <a:br/>
            <a:r>
              <a:rPr sz="850">
                <a:solidFill>
                  <a:srgbClr val="475569"/>
                </a:solidFill>
              </a:rPr>
              <a:t>Student taps 'Mark Attendance' inside classroom, initiating BLE scan.</a:t>
            </a:r>
          </a:p>
        </p:txBody>
      </p:sp>
      <p:sp>
        <p:nvSpPr>
          <p:cNvPr id="164" name="Google Shape;164;p9"/>
          <p:cNvSpPr txBox="1"/>
          <p:nvPr/>
        </p:nvSpPr>
        <p:spPr>
          <a:xfrm>
            <a:off x="1234440" y="56235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4389120" y="3017520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572000" y="1600200"/>
            <a:ext cx="3154680" cy="38404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4572000" y="301752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3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950" b="1">
                <a:solidFill>
                  <a:srgbClr val="101840"/>
                </a:solidFill>
              </a:rPr>
              <a:t>Step 4: BLE RSSI Check</a:t>
            </a:r>
            <a:br/>
            <a:r>
              <a:rPr sz="850">
                <a:solidFill>
                  <a:srgbClr val="475569"/>
                </a:solidFill>
              </a:rPr>
              <a:t>Evaluates received signal strength indicator (RSSI &gt; -75 dBm) to verify student is within 5–10m range.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01840"/>
                </a:solidFill>
              </a:rPr>
              <a:t>Step 5: Anti-Proxy Match</a:t>
            </a:r>
            <a:br/>
            <a:r>
              <a:rPr sz="850">
                <a:solidFill>
                  <a:srgbClr val="475569"/>
                </a:solidFill>
              </a:rPr>
              <a:t>Validates hardware device fingerprint against student's bound device profile in DB.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01840"/>
                </a:solidFill>
              </a:rPr>
              <a:t>Step 6: Biometric / Token</a:t>
            </a:r>
            <a:br/>
            <a:r>
              <a:rPr sz="850">
                <a:solidFill>
                  <a:srgbClr val="475569"/>
                </a:solidFill>
              </a:rPr>
              <a:t>1-Tap WebAuthn biometric verification signs dynamic attendance challenge token.</a:t>
            </a:r>
          </a:p>
        </p:txBody>
      </p:sp>
      <p:sp>
        <p:nvSpPr>
          <p:cNvPr id="168" name="Google Shape;168;p9"/>
          <p:cNvSpPr txBox="1"/>
          <p:nvPr/>
        </p:nvSpPr>
        <p:spPr>
          <a:xfrm>
            <a:off x="4572000" y="56235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7726680" y="3017520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7909560" y="1600200"/>
            <a:ext cx="3154680" cy="38404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7909560" y="301752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3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950" b="1">
                <a:solidFill>
                  <a:srgbClr val="101840"/>
                </a:solidFill>
              </a:rPr>
              <a:t>Step 7: Verification Confirmed</a:t>
            </a:r>
            <a:br/>
            <a:r>
              <a:rPr sz="850">
                <a:solidFill>
                  <a:srgbClr val="475569"/>
                </a:solidFill>
              </a:rPr>
              <a:t>Instant green notification 'Attendance Marked Successfully' displayed on student phone.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01840"/>
                </a:solidFill>
              </a:rPr>
              <a:t>Step 8: Real-Time Live Sync</a:t>
            </a:r>
            <a:br/>
            <a:r>
              <a:rPr sz="850">
                <a:solidFill>
                  <a:srgbClr val="475569"/>
                </a:solidFill>
              </a:rPr>
              <a:t>Student's name &amp; roll number instantly appear on teacher's live roster via Socket.IO.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01840"/>
                </a:solidFill>
              </a:rPr>
              <a:t>Step 9: Automated Export</a:t>
            </a:r>
            <a:br/>
            <a:r>
              <a:rPr sz="850">
                <a:solidFill>
                  <a:srgbClr val="475569"/>
                </a:solidFill>
              </a:rPr>
              <a:t>Attendance logged permanently; teacher downloads official Excel / PDF report.</a:t>
            </a:r>
          </a:p>
        </p:txBody>
      </p:sp>
      <p:sp>
        <p:nvSpPr>
          <p:cNvPr id="172" name="Google Shape;172;p9"/>
          <p:cNvSpPr txBox="1"/>
          <p:nvPr/>
        </p:nvSpPr>
        <p:spPr>
          <a:xfrm>
            <a:off x="7909560" y="56235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TECHNICAL UNDERSTANDING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Technology Stack &amp; Core Concepts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234460" y="1600200"/>
            <a:ext cx="9829800" cy="25266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1463050" y="1884376"/>
            <a:ext cx="93270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6B7593"/>
              </a:buClr>
              <a:buSzPts val="1300"/>
              <a:buFont typeface="Calibri"/>
              <a:buNone/>
            </a:pPr>
            <a:r>
              <a:rPr sz="1050" b="1">
                <a:solidFill>
                  <a:srgbClr val="101840"/>
                </a:solidFill>
              </a:rPr>
              <a:t>• Frontend Layer: </a:t>
            </a:r>
            <a:r>
              <a:rPr sz="1000">
                <a:solidFill>
                  <a:srgbClr val="1E293B"/>
                </a:solidFill>
              </a:rPr>
              <a:t>React 18, Vite, HTML5 Web Bluetooth API, Socket.IO-Client, Responsive CSS3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01840"/>
                </a:solidFill>
              </a:rPr>
              <a:t>• Backend Layer: </a:t>
            </a:r>
            <a:r>
              <a:rPr sz="1000">
                <a:solidFill>
                  <a:srgbClr val="1E293B"/>
                </a:solidFill>
              </a:rPr>
              <a:t>Node.js (v20+), Express.js REST Framework, Socket.IO Server, JWT Auth, Multer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01840"/>
                </a:solidFill>
              </a:rPr>
              <a:t>• Security &amp; Hardware: </a:t>
            </a:r>
            <a:r>
              <a:rPr sz="1000">
                <a:solidFill>
                  <a:srgbClr val="1E293B"/>
                </a:solidFill>
              </a:rPr>
              <a:t>WebAuthn Biometric API, SHA-256 Device Fingerprinting, Helmet.js, Rate Limiting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01840"/>
                </a:solidFill>
              </a:rPr>
              <a:t>• Data &amp; Reporting: </a:t>
            </a:r>
            <a:r>
              <a:rPr sz="1000">
                <a:solidFill>
                  <a:srgbClr val="1E293B"/>
                </a:solidFill>
              </a:rPr>
              <a:t>MongoDB Atlas (Mongoose ODM), In-Memory Demo Store, ExcelJS / XLSX, PDFKit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01840"/>
                </a:solidFill>
              </a:rPr>
              <a:t>• Deployment: </a:t>
            </a:r>
            <a:r>
              <a:rPr sz="1000">
                <a:solidFill>
                  <a:srgbClr val="1E293B"/>
                </a:solidFill>
              </a:rPr>
              <a:t>Render Cloud Web Service (https://stuatten-backend.onrender.com)</a:t>
            </a:r>
          </a:p>
        </p:txBody>
      </p:sp>
      <p:sp>
        <p:nvSpPr>
          <p:cNvPr id="188" name="Google Shape;188;p10"/>
          <p:cNvSpPr/>
          <p:nvPr/>
        </p:nvSpPr>
        <p:spPr>
          <a:xfrm>
            <a:off x="1234440" y="4480560"/>
            <a:ext cx="982980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1463040" y="46177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Core Concept / Algorithm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1463040" y="5029200"/>
            <a:ext cx="9326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2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950" b="1">
                <a:solidFill>
                  <a:srgbClr val="101840"/>
                </a:solidFill>
              </a:rPr>
              <a:t>1. Log-Distance Path Loss Model (BLE RSSI Proximity): </a:t>
            </a:r>
            <a:r>
              <a:rPr sz="900">
                <a:solidFill>
                  <a:srgbClr val="475569"/>
                </a:solidFill>
              </a:rPr>
              <a:t>Distance d = 10^((MeasuredPower - RSSI) / (10 * n)). Verifies student distance from teacher's device (n ≈ 2.2 indoor exponent, threshold d ≤ 8m).
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01840"/>
                </a:solidFill>
              </a:rPr>
              <a:t>2. Haversine Great-Circle Geofencing Formula: </a:t>
            </a:r>
            <a:r>
              <a:rPr sz="900">
                <a:solidFill>
                  <a:srgbClr val="475569"/>
                </a:solidFill>
              </a:rPr>
              <a:t>a = sin²(Δφ/2) + cos(φ₁)cos(φ₂)sin²(Δλ/2); d = 2R·atan2(√a, √(1-a)). Locks attendance strictly inside college lecture hall radius (R = 6371km, d ≤ 50m).
</a:t>
            </a:r>
          </a:p>
          <a:p>
            <a:pPr>
              <a:spcAft>
                <a:spcPts val="0"/>
              </a:spcAft>
            </a:pPr>
            <a:r>
              <a:rPr sz="950" b="1">
                <a:solidFill>
                  <a:srgbClr val="101840"/>
                </a:solidFill>
              </a:rPr>
              <a:t>3. Anti-Proxy Device Binding &amp; WebAuthn: </a:t>
            </a:r>
            <a:r>
              <a:rPr sz="900">
                <a:solidFill>
                  <a:srgbClr val="475569"/>
                </a:solidFill>
              </a:rPr>
              <a:t>Cryptographic binding of student roll number to physical device hardware UUID. Denies any proxy attempt from another device.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Results &amp; Testing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" name="Google Shape;204;p11"/>
          <p:cNvGraphicFramePr/>
          <p:nvPr/>
        </p:nvGraphicFramePr>
        <p:xfrm>
          <a:off x="12344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{1AB96F70-AEE2-41DE-B56D-7921EAF9746E}</a:tableStyleId>
              </a:tblPr>
              <a:tblGrid>
                <a:gridCol w="1097275"/>
                <a:gridCol w="2662475"/>
                <a:gridCol w="3042775"/>
                <a:gridCol w="280647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Expected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T1: BLE Proximity Check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Student phone 3m from teacher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0955D"/>
                          </a:solidFill>
                          <a:latin typeface="Calibri"/>
                        </a:rPr>
                        <a:t>RSSI &gt; -75 dBm (PASS)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0955D"/>
                          </a:solidFill>
                          <a:latin typeface="Calibri"/>
                        </a:rPr>
                        <a:t>Detected at -62 dBm; PASS (420ms)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T2: Out-of-Range Boundary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Student located 25m away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Proximity rejected (FAIL)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B91C1C"/>
                          </a:solidFill>
                          <a:latin typeface="Calibri"/>
                        </a:rPr>
                        <a:t>Blocked (RSSI -89 dBm); Out of range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T3: Proxy Marking Attempt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Student B attempts mark for A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Device ID mismatch (BLOCKED)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B91C1C"/>
                          </a:solidFill>
                          <a:latin typeface="Calibri"/>
                        </a:rPr>
                        <a:t>100% Blocked — Hardware token mismatch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T4: Timeout &amp; Auto-Closure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Session duration reaches 00:00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Session status closed automatically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Auto-closed on server; late marks denied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T5: Roster &amp; Report Export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Teacher requests Excel/PDF report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Generate institutional report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Downloaded valid .xlsx &amp; .pdf (&lt; 1.5s)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p11"/>
          <p:cNvSpPr txBox="1"/>
          <p:nvPr/>
        </p:nvSpPr>
        <p:spPr>
          <a:xfrm>
            <a:off x="1234440" y="5349240"/>
            <a:ext cx="982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60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sz="1100" b="1">
                <a:solidFill>
                  <a:srgbClr val="DC9614"/>
                </a:solidFill>
                <a:latin typeface="Calibri"/>
              </a:rPr>
              <a:t>Key Result: 100% Proxy Elimination  |  Average Verification Time: 1.1 Seconds  |  99.4% BLE Range Accuracy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Conclusion, Challenges &amp; Future Scope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1234440" y="1600200"/>
            <a:ext cx="3154680" cy="448056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1463040" y="18288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 txBox="1"/>
          <p:nvPr/>
        </p:nvSpPr>
        <p:spPr>
          <a:xfrm>
            <a:off x="146304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 txBox="1"/>
          <p:nvPr/>
        </p:nvSpPr>
        <p:spPr>
          <a:xfrm>
            <a:off x="2057400" y="1892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1463040" y="2560320"/>
            <a:ext cx="2697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900" b="0">
                <a:solidFill>
                  <a:srgbClr val="1E293B"/>
                </a:solidFill>
                <a:latin typeface="Calibri"/>
              </a:rPr>
              <a:t>• Successfully developed &amp; deployed Stuatten, an automated smart attendance management platform for AKTU colleges.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1E293B"/>
                </a:solidFill>
                <a:latin typeface="Calibri"/>
              </a:rPr>
              <a:t>• Replaced time-consuming manual roll calls with automated BLE proximity and biometric presence verification.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1E293B"/>
                </a:solidFill>
                <a:latin typeface="Calibri"/>
              </a:rPr>
              <a:t>• 3-tier anti-proxy defense eliminates buddy punching, credential forwarding, and screenshot sharing.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1E293B"/>
                </a:solidFill>
                <a:latin typeface="Calibri"/>
              </a:rPr>
              <a:t>• Live teacher dashboard with countdown timers, auto-timeout closure, and one-click PDF/Excel report downloads.</a:t>
            </a:r>
          </a:p>
        </p:txBody>
      </p:sp>
      <p:sp>
        <p:nvSpPr>
          <p:cNvPr id="224" name="Google Shape;224;p12"/>
          <p:cNvSpPr/>
          <p:nvPr/>
        </p:nvSpPr>
        <p:spPr>
          <a:xfrm>
            <a:off x="4572000" y="1600200"/>
            <a:ext cx="3154680" cy="448056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4800600" y="18288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 txBox="1"/>
          <p:nvPr/>
        </p:nvSpPr>
        <p:spPr>
          <a:xfrm>
            <a:off x="480060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5394960" y="1892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Challenges &amp; Solutions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4800600" y="2560320"/>
            <a:ext cx="2697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2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900" b="1">
                <a:solidFill>
                  <a:srgbClr val="101840"/>
                </a:solidFill>
              </a:rPr>
              <a:t>• BLE Multipath Noise: </a:t>
            </a:r>
            <a:r>
              <a:rPr sz="850">
                <a:solidFill>
                  <a:srgbClr val="475569"/>
                </a:solidFill>
              </a:rPr>
              <a:t>Classroom obstacles cause RSSI fluctuations. Solved via moving-average signal filtering.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01840"/>
                </a:solidFill>
              </a:rPr>
              <a:t>• Android Passkey Dialogs: </a:t>
            </a:r>
            <a:r>
              <a:rPr sz="850">
                <a:solidFill>
                  <a:srgbClr val="475569"/>
                </a:solidFill>
              </a:rPr>
              <a:t>OS prompted passkey setup. Solved by implementing 1-Tap physical device binding.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01840"/>
                </a:solidFill>
              </a:rPr>
              <a:t>• Cloud Server Cold Start: </a:t>
            </a:r>
            <a:r>
              <a:rPr sz="850">
                <a:solidFill>
                  <a:srgbClr val="475569"/>
                </a:solidFill>
              </a:rPr>
              <a:t>Free tier spins down after inactivity. Solved with resilient in-memory offline fallback.</a:t>
            </a:r>
          </a:p>
        </p:txBody>
      </p:sp>
      <p:sp>
        <p:nvSpPr>
          <p:cNvPr id="229" name="Google Shape;229;p12"/>
          <p:cNvSpPr/>
          <p:nvPr/>
        </p:nvSpPr>
        <p:spPr>
          <a:xfrm>
            <a:off x="7909560" y="1600200"/>
            <a:ext cx="3154680" cy="448056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8138160" y="18288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 txBox="1"/>
          <p:nvPr/>
        </p:nvSpPr>
        <p:spPr>
          <a:xfrm>
            <a:off x="813816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8732520" y="1892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Future Scope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8138160" y="2560320"/>
            <a:ext cx="2697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900" b="0">
                <a:solidFill>
                  <a:srgbClr val="1E293B"/>
                </a:solidFill>
                <a:latin typeface="Calibri"/>
              </a:rPr>
              <a:t>• Institutional ERP Integration: Direct webhook synchronization with AKTU college management portals.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1E293B"/>
                </a:solidFill>
                <a:latin typeface="Calibri"/>
              </a:rPr>
              <a:t>• Fixed BLE Beacon Infrastructure: Hardwired IoT beacon anchors in college lecture halls &amp; laboratories.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1E293B"/>
                </a:solidFill>
                <a:latin typeface="Calibri"/>
              </a:rPr>
              <a:t>• AI Face Verification: Dual biometric cross-verification using facial recognition camera stream.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1E293B"/>
                </a:solidFill>
                <a:latin typeface="Calibri"/>
              </a:rPr>
              <a:t>• Predictive Analytics: Machine learning models to flag chronic attendance defaulters before exams.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 txBox="1"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 txBox="1"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 txBox="1"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BCC351  ·  B.TECH MINI PROJECT  ·  FINAL EVALUATION (REVIEW-02)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 txBox="1"/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1234440" y="1600200"/>
            <a:ext cx="9848088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9525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 txBox="1"/>
          <p:nvPr/>
        </p:nvSpPr>
        <p:spPr>
          <a:xfrm>
            <a:off x="1554480" y="18745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950" b="0">
                <a:solidFill>
                  <a:srgbClr val="1E293B"/>
                </a:solidFill>
                <a:latin typeface="Calibri"/>
              </a:rPr>
              <a:t>[1] A. Kumar and S. Sharma, "Automated Attendance Systems Using Bluetooth Low Energy Beacons," IEEE Transactions on Mobile Computing, vol. 19, no. 4, pp. 892–904, 2021.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1E293B"/>
                </a:solidFill>
                <a:latin typeface="Calibri"/>
              </a:rPr>
              <a:t>[2] M. S. Islam and N. Jahan, "Geofencing and Biometric Authentication for Secure Classroom Attendance," IEEE Access, vol. 9, pp. 112340–112351, 2021.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1E293B"/>
                </a:solidFill>
                <a:latin typeface="Calibri"/>
              </a:rPr>
              <a:t>[3] World Wide Web Consortium (W3C), "Web Authentication: An API for Accessing Public Key Credentials Level 2 (WebAuthn)," W3C Recommendation, 2021. [Online]. Available: https://www.w3.org/TR/webauthn-2/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1E293B"/>
                </a:solidFill>
                <a:latin typeface="Calibri"/>
              </a:rPr>
              <a:t>[4] J. Chen, P. Wang, and T. Zhang, "Analysis of RSSI-based Indoor Localization Techniques in Bluetooth Low Energy Networks," IEEE Internet of Things Journal, vol. 8, no. 12, pp. 9811–9823, 2021.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1E293B"/>
                </a:solidFill>
                <a:latin typeface="Calibri"/>
              </a:rPr>
              <a:t>[5] Express.js &amp; React Core Teams, "Full-Stack Reactive Architectures for Scalable Real-time Web Applications," Technical Documentation, 2024. [Online]. Available: https://react.dev/</a:t>
            </a:r>
          </a:p>
        </p:txBody>
      </p:sp>
      <p:sp>
        <p:nvSpPr>
          <p:cNvPr id="249" name="Google Shape;249;p13"/>
          <p:cNvSpPr txBox="1"/>
          <p:nvPr/>
        </p:nvSpPr>
        <p:spPr>
          <a:xfrm>
            <a:off x="1554480" y="53949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DC9614"/>
                </a:solidFill>
                <a:latin typeface="Calibri"/>
                <a:ea typeface="Calibri"/>
                <a:cs typeface="Calibri"/>
                <a:sym typeface="Calibri"/>
              </a:rPr>
              <a:t>NOTE: All references must be cited in IEEE format.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 txBox="1"/>
          <p:nvPr/>
        </p:nvSpPr>
        <p:spPr>
          <a:xfrm>
            <a:off x="914400" y="2468880"/>
            <a:ext cx="103601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914400" y="338328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Questions &amp; suggestions are welcome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914400" y="475488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Lloyd Institute of Engineering &amp; Technology, Greater Noida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